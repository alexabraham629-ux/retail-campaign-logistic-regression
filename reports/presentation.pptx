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65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slide represents the baseline performance of the marketing campaign before inflation. The logistic regression model predicted an average customer response probability of 44.7%. Based on a targeting threshold of 50%, 212 out of 500 customers were selected for the campaign. At a marketing cost of $5 per targeted customer, the total campaign cost is $1,060. The model estimates an expected revenue of $15,193, and the campaign's cost per acquisition is $7.52. These baseline values are later compared with the post-inflation scenario to measure the impact of inflation.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Suppose a customer usually spends:</a:t>
            </a:r>
          </a:p>
          <a:p>
            <a:r>
              <a:rPr lang="en-IN" dirty="0"/>
              <a:t>Before inflation:</a:t>
            </a:r>
          </a:p>
          <a:p>
            <a:r>
              <a:rPr lang="en-IN" b="1" dirty="0"/>
              <a:t>$100</a:t>
            </a:r>
            <a:endParaRPr lang="en-IN" dirty="0"/>
          </a:p>
          <a:p>
            <a:r>
              <a:rPr lang="en-IN" dirty="0"/>
              <a:t>After inflation:</a:t>
            </a:r>
          </a:p>
          <a:p>
            <a:r>
              <a:rPr lang="en-IN" b="1" dirty="0"/>
              <a:t>$85</a:t>
            </a:r>
            <a:endParaRPr lang="en-IN" dirty="0"/>
          </a:p>
          <a:p>
            <a:r>
              <a:rPr lang="en-IN" dirty="0"/>
              <a:t>Because prices are higher and disposable income is lower, customers reduce how much they spend in one purchase.</a:t>
            </a:r>
          </a:p>
          <a:p>
            <a:endParaRPr lang="en-US" dirty="0"/>
          </a:p>
          <a:p>
            <a:r>
              <a:rPr lang="en-IN" dirty="0"/>
              <a:t>Suppose a customer normally visits the website:</a:t>
            </a:r>
          </a:p>
          <a:p>
            <a:r>
              <a:rPr lang="en-IN" dirty="0"/>
              <a:t>10 times/month</a:t>
            </a:r>
          </a:p>
          <a:p>
            <a:r>
              <a:rPr lang="en-IN" dirty="0"/>
              <a:t>During inflation:</a:t>
            </a:r>
          </a:p>
          <a:p>
            <a:r>
              <a:rPr lang="en-IN" dirty="0"/>
              <a:t>9 times/month</a:t>
            </a:r>
          </a:p>
          <a:p>
            <a:r>
              <a:rPr lang="en-IN" dirty="0"/>
              <a:t>Customers browse less because they are less interested in shopping or postpone purchases.</a:t>
            </a:r>
          </a:p>
          <a:p>
            <a:r>
              <a:rPr lang="en-IN" dirty="0"/>
              <a:t>Suppose a customer normally buys every:</a:t>
            </a:r>
          </a:p>
          <a:p>
            <a:r>
              <a:rPr lang="en-IN" dirty="0"/>
              <a:t>20 days</a:t>
            </a:r>
          </a:p>
          <a:p>
            <a:r>
              <a:rPr lang="en-IN" dirty="0"/>
              <a:t>After inflation:</a:t>
            </a:r>
          </a:p>
          <a:p>
            <a:r>
              <a:rPr lang="en-IN" dirty="0"/>
              <a:t>24 days</a:t>
            </a:r>
          </a:p>
          <a:p>
            <a:r>
              <a:rPr lang="en-IN" dirty="0"/>
              <a:t>Customers wait longer before making another purchase.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Inflation caused customers to:</a:t>
            </a:r>
          </a:p>
          <a:p>
            <a:pPr lvl="0"/>
            <a:r>
              <a:rPr lang="en-IN" dirty="0"/>
              <a:t>Spend less </a:t>
            </a:r>
          </a:p>
          <a:p>
            <a:pPr lvl="0"/>
            <a:r>
              <a:rPr lang="en-IN" dirty="0"/>
              <a:t>Visit the website less </a:t>
            </a:r>
          </a:p>
          <a:p>
            <a:pPr lvl="0"/>
            <a:r>
              <a:rPr lang="en-IN" dirty="0"/>
              <a:t>Delay purchases </a:t>
            </a:r>
          </a:p>
          <a:p>
            <a:r>
              <a:rPr lang="en-IN" dirty="0"/>
              <a:t>So the logistic regression model predicts that customers are </a:t>
            </a:r>
            <a:r>
              <a:rPr lang="en-IN" b="1" dirty="0"/>
              <a:t>less likely to respond</a:t>
            </a:r>
            <a:r>
              <a:rPr lang="en-IN" dirty="0"/>
              <a:t>.</a:t>
            </a:r>
          </a:p>
          <a:p>
            <a:r>
              <a:rPr lang="en-IN" b="1" dirty="0"/>
              <a:t>Why didn't CPA change much?</a:t>
            </a:r>
          </a:p>
          <a:p>
            <a:r>
              <a:rPr lang="en-IN" dirty="0"/>
              <a:t>Although:</a:t>
            </a:r>
          </a:p>
          <a:p>
            <a:pPr lvl="0"/>
            <a:r>
              <a:rPr lang="en-IN" dirty="0"/>
              <a:t>Revenue decreased </a:t>
            </a:r>
          </a:p>
          <a:p>
            <a:pPr lvl="0"/>
            <a:r>
              <a:rPr lang="en-IN" dirty="0"/>
              <a:t>Customers decreased </a:t>
            </a:r>
          </a:p>
          <a:p>
            <a:r>
              <a:rPr lang="en-IN" dirty="0"/>
              <a:t>the company is also spending less on marketing.</a:t>
            </a:r>
          </a:p>
          <a:p>
            <a:r>
              <a:rPr lang="en-IN" dirty="0"/>
              <a:t>The reduction in marketing cost almost balances the reduction in customers acquired.</a:t>
            </a:r>
          </a:p>
          <a:p>
            <a:r>
              <a:rPr lang="en-IN" dirty="0"/>
              <a:t>So CPA remains almost the same.</a:t>
            </a:r>
          </a:p>
          <a:p>
            <a:r>
              <a:rPr lang="en-IN" dirty="0"/>
              <a:t>The company is </a:t>
            </a:r>
            <a:r>
              <a:rPr lang="en-IN" b="1" dirty="0"/>
              <a:t>still spending almost the same amount to acquire each customer.</a:t>
            </a:r>
            <a:endParaRPr lang="en-IN" dirty="0"/>
          </a:p>
          <a:p>
            <a:r>
              <a:rPr lang="en-IN" dirty="0"/>
              <a:t>The problem is </a:t>
            </a:r>
            <a:r>
              <a:rPr lang="en-IN" b="1" dirty="0"/>
              <a:t>not efficiency</a:t>
            </a:r>
            <a:r>
              <a:rPr lang="en-IN" dirty="0"/>
              <a:t>.</a:t>
            </a:r>
          </a:p>
          <a:p>
            <a:r>
              <a:rPr lang="en-IN" dirty="0"/>
              <a:t>The problem is that there are </a:t>
            </a:r>
            <a:r>
              <a:rPr lang="en-IN" b="1" dirty="0"/>
              <a:t>fewer customers available to acquire.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deck/icons/rain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887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SECTOR  •  MARKETING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Inflationary Pressure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Marketing Analytics Approach Using Logistic Regression &amp; Maximum Likelihood Estimation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384048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ANALYTICS-MBA442B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855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26080" y="48554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</a:t>
            </a:r>
            <a:r>
              <a:rPr lang="en-I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ABRAHAM, CALVIN JOSEPH, CLINTON 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5276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26080" y="52760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696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0" y="56967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4-AUG-2026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6172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sector — data-driven customer targeting under economic pressure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943600" cy="4983480"/>
          </a:xfrm>
          <a:prstGeom prst="roundRect">
            <a:avLst>
              <a:gd name="adj" fmla="val 1468"/>
            </a:avLst>
          </a:prstGeom>
          <a:solidFill>
            <a:srgbClr val="F1F5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b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068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09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Sector &amp;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business runs targeted marketing campaigns to a base of 500 customers, using behavioural and transactional data — purchase history, average order value, website visits, email engagement, loyalty status, and discount usage — to decide who to target.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33887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291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Problem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386791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budgets are limited, so the business must predict which customers are likely to respond before spending — and understand how a macroeconomic shock, such as inflationary pressure, changes customer response and campaign returns.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dec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2175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2960" y="569671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Mistargeted spend is costly in a downturn. Quantifying how inflation shifts response probability, revenue and cost efficiency lets managers reallocate budget defensively rather than cutting it blindly.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1417320"/>
            <a:ext cx="4967935" cy="4983480"/>
          </a:xfrm>
          <a:prstGeom prst="roundRect">
            <a:avLst>
              <a:gd name="adj" fmla="val 1472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7040880" y="1645920"/>
            <a:ext cx="4327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Objectives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040880" y="224942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5"/>
          <p:cNvSpPr/>
          <p:nvPr/>
        </p:nvSpPr>
        <p:spPr>
          <a:xfrm>
            <a:off x="7342632" y="212140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individual customer response probability using logistic regression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040880" y="302666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17"/>
          <p:cNvSpPr/>
          <p:nvPr/>
        </p:nvSpPr>
        <p:spPr>
          <a:xfrm>
            <a:off x="7342632" y="289864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model coefficients via Maximum Likelihood Estimation (MLE) with Excel Solver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040880" y="380390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19"/>
          <p:cNvSpPr/>
          <p:nvPr/>
        </p:nvSpPr>
        <p:spPr>
          <a:xfrm>
            <a:off x="7342632" y="367588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campaign KPIs (probability, revenue, targeting, cost, CPA)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040880" y="458114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1"/>
          <p:cNvSpPr/>
          <p:nvPr/>
        </p:nvSpPr>
        <p:spPr>
          <a:xfrm>
            <a:off x="7342632" y="445312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inflationary pressure scenario and recalculate KPIs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040880" y="535838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3"/>
          <p:cNvSpPr/>
          <p:nvPr/>
        </p:nvSpPr>
        <p:spPr>
          <a:xfrm>
            <a:off x="7342632" y="5230368"/>
            <a:ext cx="4053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KPI shifts into managerial, budget-relevant recommendations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KPIs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built — explained in business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3728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37286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31538" y="1481328"/>
            <a:ext cx="3728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31538" y="1993392"/>
            <a:ext cx="37286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Variables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60157" y="1481328"/>
            <a:ext cx="3728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60157" y="1993392"/>
            <a:ext cx="37286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Outcome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(Responded / Not)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Variables Used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30175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Purchases (last yr)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328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Order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 Visits /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36393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Open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Days Since Last Purchase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39502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Loyalty Membership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61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 Usage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4261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Engagement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Tracked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983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Response Probability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2760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Expected 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56869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Targeted (p &gt; 0.5)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861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Marketing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15391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per Acquisition (CPA)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2651760"/>
            <a:ext cx="4967935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816352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40880" y="324612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40880" y="3538728"/>
            <a:ext cx="4327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probability that a customer responds to a campaign, based on their attributes.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448056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4773168"/>
            <a:ext cx="4327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Solver searched for the coefficient values that make the model’s predictions best match actual historical responses (maximising total log-likelihood).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40880" y="571500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40880" y="6007608"/>
            <a:ext cx="4327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held fixed; only customer-level inputs are shocked to isolate the pure effect of inflation on behaviour.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Business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Pre-inflation campaign KPIs, from the fitted logistic regression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perc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56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12648" y="3291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PROBABILITY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3931920"/>
            <a:ext cx="1481328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06908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likelihood a customer in the base responds to the campaign.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70632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doll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273" y="202192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62072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$15,193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880360" y="3291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EXPECTED REVENUE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090672" y="3931920"/>
            <a:ext cx="1481328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35224" y="406908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expected from targeted customers at baseline conditions.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38344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5584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dec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985" y="202192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9784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5148072" y="3291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TARGETED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358384" y="3931920"/>
            <a:ext cx="1481328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02936" y="406908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predicted probability above 0.5, out of 500.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306056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83296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dec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697" y="202192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97496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$1,060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7415784" y="3291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MARKETING COST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626096" y="3931920"/>
            <a:ext cx="1481328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70648" y="406908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$5 per targeted customer (212 × $5).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573768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351008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deck/icons/cha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409" y="2021921"/>
            <a:ext cx="272125" cy="2721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65208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$7.52</a:t>
            </a:r>
            <a:endParaRPr lang="en-US" sz="2600" dirty="0"/>
          </a:p>
        </p:txBody>
      </p:sp>
      <p:sp>
        <p:nvSpPr>
          <p:cNvPr id="36" name="Text 29"/>
          <p:cNvSpPr/>
          <p:nvPr/>
        </p:nvSpPr>
        <p:spPr>
          <a:xfrm>
            <a:off x="9683496" y="3291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893808" y="3931920"/>
            <a:ext cx="1481328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738360" y="406908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cost per expected acquisition — the baseline efficiency benchmark.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Inflationary Pressure Scenario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 macroeconomic shock on customer behaviour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— Customer-Level Input Shocks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b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21559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0" y="20299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–15%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999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spend less per basket as discretionary income tightens.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039" y="221559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0299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–10%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26280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26280" y="2999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browsing and digital engagement as purchase intent cools.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9244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/>
        </p:spPr>
      </p:sp>
      <p:sp>
        <p:nvSpPr>
          <p:cNvPr id="18" name="Shape 14"/>
          <p:cNvSpPr/>
          <p:nvPr/>
        </p:nvSpPr>
        <p:spPr>
          <a:xfrm>
            <a:off x="8321040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icons/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799" y="2215591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41280" y="20299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321040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21040" y="2999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 cycles stretch out as customers delay spending.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977640"/>
            <a:ext cx="11185855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1605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Inflation Changes Response Behaviour, and What It Means for Marketing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22960" y="4672584"/>
            <a:ext cx="109728" cy="1097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1"/>
          <p:cNvSpPr/>
          <p:nvPr/>
        </p:nvSpPr>
        <p:spPr>
          <a:xfrm>
            <a:off x="1097280" y="4544568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coefficients (the fixed weight each variable carries) are unchanged — inflation does not alter how customers behave in principle, only the inputs feeding into that behaviour.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22960" y="5202936"/>
            <a:ext cx="109728" cy="1097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5074920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baskets, less browsing, and longer gaps between purchases each pull the logistic score downward, lowering predicted response probability for the same customer base.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22960" y="5733288"/>
            <a:ext cx="109728" cy="1097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0" name="Text 25"/>
          <p:cNvSpPr/>
          <p:nvPr/>
        </p:nvSpPr>
        <p:spPr>
          <a:xfrm>
            <a:off x="1097280" y="5605272"/>
            <a:ext cx="990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customers are expected to clear the 0.5 targeting threshold, so campaigns should expect a smaller, more selective addressable audience and lower expected revenue.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Comparison: Before vs. After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inflationary-pressure intervention, from the workbook model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0332720" cy="28529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Post-Inflation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Response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–0.0715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–16.0%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Expected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–$4,366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–28.7%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Targeted (p &gt; 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–31.6%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Marketing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–$335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–31.6%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Acquisition (CPA)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B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9B3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091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moved unfavourably except CPA, which is essentially flat — inflation shrinks the addressable, high-value audience more than it changes cost discipline.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5257800"/>
            <a:ext cx="3606698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4" name="Shape 4"/>
          <p:cNvSpPr/>
          <p:nvPr/>
        </p:nvSpPr>
        <p:spPr>
          <a:xfrm>
            <a:off x="685800" y="5440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deck/icons/trenddow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559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5349240"/>
            <a:ext cx="26465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falls fastest (–28.7%) — a compounding effect of fewer conversions and lower order value.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92498" y="5257800"/>
            <a:ext cx="3606698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11" name="Shape 7"/>
          <p:cNvSpPr/>
          <p:nvPr/>
        </p:nvSpPr>
        <p:spPr>
          <a:xfrm>
            <a:off x="4475378" y="5440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ec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50" y="55595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69738" y="5349240"/>
            <a:ext cx="26465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audience shrinks by nearly a third (212 → 145 customers).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8082077" y="5257800"/>
            <a:ext cx="3606698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15" name="Shape 10"/>
          <p:cNvSpPr/>
          <p:nvPr/>
        </p:nvSpPr>
        <p:spPr>
          <a:xfrm>
            <a:off x="8264957" y="5440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trendu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29" y="55595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59317" y="5349240"/>
            <a:ext cx="26465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rises only marginally — cost efficiency is not the binding constraint.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Behaviour &amp; Revenue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shocked inputs flow through to revenue and marketing efficiency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b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Shifts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order value and fewer site visits reduce the logistic score each customer generates.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50208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5196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5FC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eck/icons/perc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319" y="18681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3774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Falls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0560" y="27157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probability drops from 44.7% to 37.5% — a 16% relative decline.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699248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8" name="Image 2" descr="/home/claude/deck/icons/doll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359" y="186811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23774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Compounds Down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29600" y="27157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conversions AND a lower value per conversion combine, so revenue falls faster (–28.7%) than probability alone (–16.0%).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" y="3703320"/>
            <a:ext cx="11185855" cy="1463040"/>
          </a:xfrm>
          <a:prstGeom prst="roundRect">
            <a:avLst>
              <a:gd name="adj" fmla="val 5000"/>
            </a:avLst>
          </a:prstGeom>
          <a:solidFill>
            <a:srgbClr val="F1F5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dec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06267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3913632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Efficiency: Why CPA Barely Moves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417320" y="4279392"/>
            <a:ext cx="99971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probability falls, fewer customers clear the targeting threshold (212 → 145), so both the number of customers reached and total marketing spend fall in step (–31.6% each). The remaining pool sits closer to the p = 0.5 "fence-sitter" line, converting only marginally less efficiently — so CPA edges up by just $0.02, confirming that inflation’s damage is concentrated in audience size and revenue, not cost discipline.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5394960"/>
            <a:ext cx="279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–16.0%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502920" y="5897880"/>
            <a:ext cx="279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PROBABILITY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299384" y="5394960"/>
            <a:ext cx="279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–28.7%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299384" y="5897880"/>
            <a:ext cx="279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6095848" y="5394960"/>
            <a:ext cx="279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–31.6%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6095848" y="5897880"/>
            <a:ext cx="279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TARGETED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8892311" y="5394960"/>
            <a:ext cx="279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+0.3%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8892311" y="5897880"/>
            <a:ext cx="279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657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deck/icons/cpu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5440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Analytical Thinking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325880" y="841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predictive analytics converts economic pressure into managerial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41B4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9" name="Image 1" descr="/home/claude/deck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1520" y="2651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converts 10 behavioural and transactional signals per customer into a single, ranked response probability — replacing intuition-based targeting with a repeatable, data-driven score.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41B49"/>
          </a:solidFill>
          <a:ln/>
        </p:spPr>
      </p:sp>
      <p:sp>
        <p:nvSpPr>
          <p:cNvPr id="13" name="Shape 9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4" name="Image 2" descr="/home/claude/deck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17766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MLE-Optimised Learning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26280" y="2651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Solver searched the coefficient space to maximise total log-likelihood (−287.60), the point at which predicted probabilities best match actual historical responses — the model learns from evidence, not assumption.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09244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41B49"/>
          </a:solidFill>
          <a:ln/>
        </p:spPr>
      </p:sp>
      <p:sp>
        <p:nvSpPr>
          <p:cNvPr id="18" name="Shape 13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pic>
        <p:nvPicPr>
          <p:cNvPr id="19" name="Image 3" descr="/home/claude/deck/icons/activit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799" y="177667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Simulation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21040" y="2651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coefficients fixed and shocking only customer inputs isolates the pure effect of inflation, letting managers preview the impact of a macro shock before it hits the P&amp;L.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3840480"/>
            <a:ext cx="11185855" cy="2423160"/>
          </a:xfrm>
          <a:prstGeom prst="roundRect">
            <a:avLst>
              <a:gd name="adj" fmla="val 3019"/>
            </a:avLst>
          </a:prstGeom>
          <a:solidFill>
            <a:srgbClr val="CADCFC"/>
          </a:solidFill>
          <a:ln/>
        </p:spPr>
      </p:sp>
      <p:sp>
        <p:nvSpPr>
          <p:cNvPr id="23" name="Text 17"/>
          <p:cNvSpPr/>
          <p:nvPr/>
        </p:nvSpPr>
        <p:spPr>
          <a:xfrm>
            <a:off x="777240" y="40233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Evaluation: Decision Support, Not Just Description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77240" y="4535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1051560" y="4389120"/>
            <a:ext cx="101800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not guessing: the model identifies which behavioural signals matter most for response — email engagement and social media activity carry the largest positive influence — so managers know where to defend response probability, not just where to cut spend.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777240" y="51023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1051560" y="4956048"/>
            <a:ext cx="101800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insight: scenario re-scoring lets a manager see the KPI impact of an assumed shock in minutes, instead of waiting for a quarter’s actual results to confirm the damage.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777240" y="56692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1051560" y="5522976"/>
            <a:ext cx="101800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necessary limitation: the model assumes the estimated coefficients continue to hold under stress — an assumption reasonable for a moderate shock like this one, but one that should be re-validated with fresh MLE fitting as new post-inflation response data becomes available.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supported directly by the model’s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aw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High-Coefficient Segments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24028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 and email/social-engaged customers carry the strongest positive influence on response probability. Prioritise retention offers here to defend response rates even as spending tightens.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Re-Score Dynamically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24028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MLE-fitted model regularly as conditions evolve, so targeting always reflects current customer behaviour rather than a stale pre-inflation snapshot.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8388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48" y="1618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doll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373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Reallocate, Don’t Just Cut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85048" y="224028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$335 saved from a smaller targeted pool should be redirected to the highest-probability "core responders" rather than spread thinly across fence-sitting customers.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0408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percen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690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Probability, Not Just Cost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" y="457200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is nearly flat while revenue falls 28.7% — the real lever is lifting response probability through engagement, not further cost-cutting.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ba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0690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 Basket Compression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57200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offers and minimum-spend incentives can help offset the −15% average order value shock directly targeted by the intervention.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8388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504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icons/mai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0690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 Email &amp; Social Touchpoints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85048" y="4572000"/>
            <a:ext cx="32552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 and social engagement have outsized coefficients — investing in these channels offers the highest probability lift per marketing dollar.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deck/icons/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635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47548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691640"/>
            <a:ext cx="50292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except CPA declined under inflationary pressure: response probability, revenue, targeted customers and marketing cost all fell, while CPA stayed nearly flat.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407989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1691640"/>
            <a:ext cx="50292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Implication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erodes by 28.7% — faster than probability alone — because falling conversion and falling order value compound each other.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8388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6" name="Shape 13"/>
          <p:cNvSpPr/>
          <p:nvPr/>
        </p:nvSpPr>
        <p:spPr>
          <a:xfrm>
            <a:off x="8458200" y="1691640"/>
            <a:ext cx="50292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5820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MLE-based scenario modelling turns an abstract macro shock into a quantified, customer-level view management can act on before results arrive.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4023360"/>
            <a:ext cx="11185855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187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Managerial Takeaway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452628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in a downturn comes from re-targeting behaviourally strong customers with sharper, evidence-based precision — not from cutting marketing budgets indiscriminately.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56235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Data-driven, MLE-calibrated targeting does not eliminate the impact of inflation — but it ensures every remaining marketing dollar is spent where response is most likely, protecting revenue when it matters most.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Campaign Analytics — MBA Marketing Analytics Assignment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1955</Words>
  <Application>Microsoft Office PowerPoint</Application>
  <PresentationFormat>Widescreen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ABRAHAM</cp:lastModifiedBy>
  <cp:revision>4</cp:revision>
  <dcterms:created xsi:type="dcterms:W3CDTF">2026-08-03T23:17:22Z</dcterms:created>
  <dcterms:modified xsi:type="dcterms:W3CDTF">2026-08-04T04:59:09Z</dcterms:modified>
</cp:coreProperties>
</file>